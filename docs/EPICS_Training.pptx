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60FF9-4D98-2643-ACFA-AA1BB2D00455}" type="datetimeFigureOut">
              <a:rPr lang="en-IT" smtClean="0"/>
              <a:t>02/04/2026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CCCF42-603B-8044-9E77-75ECFC4EBE2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25029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CCCF42-603B-8044-9E77-75ECFC4EBE23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81309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 students fill in the blanks themselves first!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B4D8"/>
                </a:solidFill>
                <a:latin typeface="Calibri"/>
              </a:defRPr>
            </a:pPr>
            <a:r>
              <a:rPr dirty="0"/>
              <a:t>EPICS Containerized Controls</a:t>
            </a:r>
          </a:p>
          <a:p>
            <a:pPr algn="ctr">
              <a:spcBef>
                <a:spcPts val="1800"/>
              </a:spcBef>
              <a:defRPr sz="2400" b="0">
                <a:solidFill>
                  <a:srgbClr val="CCCCCC"/>
                </a:solidFill>
                <a:latin typeface="Calibri"/>
              </a:defRPr>
            </a:pPr>
            <a:r>
              <a:rPr dirty="0"/>
              <a:t>A hands-on training for PhD students</a:t>
            </a:r>
            <a:br>
              <a:rPr dirty="0"/>
            </a:br>
            <a:r>
              <a:rPr dirty="0"/>
              <a:t>INFN –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D8"/>
                </a:solidFill>
                <a:latin typeface="Calibri"/>
              </a:defRPr>
            </a:pPr>
            <a:r>
              <a:t>Agenda  –  4 hours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4630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Theory – What is EPICS?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4630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1488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Hands-on – Simulated beamline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1488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346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☕  Break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8346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520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Python &amp; p4p in Jupyter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35204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76F"/>
                </a:solidFill>
                <a:latin typeface="Calibri"/>
              </a:defRPr>
            </a:pPr>
            <a:r>
              <a:t>PART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062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Build a Beam-Center 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2062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8CAE4"/>
                </a:solidFill>
                <a:latin typeface="Calibri"/>
              </a:defRPr>
            </a:pPr>
            <a:r>
              <a:t>PART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8920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Run on the real hardware!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8920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1 –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What is a Control System?  What is EPICS?  (≈ 45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What is a Control System?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Every accelerator / experiment needs to READ sensors and WRITE to actuators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Temperature, vacuum, motor positions, camera images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 control system connects thousands of devices to operators and software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Key requirements: real-time data, reliability, scalability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 use EPICS – the de-facto standard in physics facilities worldwide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EPICS in 60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EPICS = Experimental Physics and Industrial Control System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Born at Los Alamos / Argonne in the 1990s – open source, community-driven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Used at CERN, ESS, SLAC, DESY, INFN, …  hundreds of facilities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Core idea: everything is a Process Variable (PV)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Network protocols: Channel Access (CA) and PV Access (PVA)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Process Variables (PVs)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 PV is a named value on the network – like a URL for a sensor/actuator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Examples: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LAB:SIM:HMIR.VAL  → horizontal mirror motor set-point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LAB:SIM:HMIR.RBV  → horizontal mirror readback position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LAB:SIM:CAM01:image1:ArrayData  → camera image array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Any client on the network can read (caget) or write (caput) a PV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PVs have types: float, int, string, enum, waveform (array)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PVs have metadata: alarm status, units, limits,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IOC – Input/Output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An IOC is the process that owns and serves PVs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It runs the device driver + EPICS database records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Example IOCs in our lab: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motorsim  → simulated motor IOC (2 axes: HMIR, VMIR)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camerasim → simulated camera IOC (1900×1200 peaks image)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simtwin   → digital twin linking motors ↔ camera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Multiple IOCs form a distributed control system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Each IOC can run in a container (Docker / Kubernetes)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Phoebus – The Operator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Phoebus is a Java-based GUI for operating EPICS systems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Built-in tools: PV probe, strip charts, alarm panels, OPI screens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OPI screens (*.bob files) are custom control panels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 pre-built screens for: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Motor control panel – move, home, set limits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Camera viewer – live image, overlays, statistics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Launcher – one-click access to all screens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open Phoebus from the terminal:  phoebus -resource Launcher.bob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Containerized EPICS – Why Docker?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42932" cy="3380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Traditional: compile &amp; install IOCs on each machine → painful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Docker: package IOC + runtime in an image, run anywhere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Our toolchain: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beamline.yaml</a:t>
            </a:r>
            <a:r>
              <a:rPr dirty="0"/>
              <a:t>  → describes all IOCs, devices, services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epik8s-compose  → generates docker-</a:t>
            </a:r>
            <a:r>
              <a:rPr dirty="0" err="1"/>
              <a:t>compose.yaml</a:t>
            </a:r>
            <a:endParaRPr dirty="0"/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docker compose up  → starts the entire beamline in seconds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Same images run locally (docker) or in production (Kubernetes</a:t>
            </a:r>
            <a:r>
              <a:rPr lang="en-US" dirty="0"/>
              <a:t>)==&gt; </a:t>
            </a:r>
            <a:r>
              <a:rPr lang="en-US" b="1" dirty="0"/>
              <a:t>EPIK8s our creature</a:t>
            </a:r>
            <a:r>
              <a:rPr lang="en-US" dirty="0"/>
              <a:t> * </a:t>
            </a: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Reproducible, version-controlled, easy to share</a:t>
            </a:r>
          </a:p>
        </p:txBody>
      </p:sp>
      <p:sp>
        <p:nvSpPr>
          <p:cNvPr id="5" name="Rettangolo 6">
            <a:extLst>
              <a:ext uri="{FF2B5EF4-FFF2-40B4-BE49-F238E27FC236}">
                <a16:creationId xmlns:a16="http://schemas.microsoft.com/office/drawing/2014/main" id="{46512032-9540-13E7-4892-038028B6120E}"/>
              </a:ext>
            </a:extLst>
          </p:cNvPr>
          <p:cNvSpPr/>
          <p:nvPr/>
        </p:nvSpPr>
        <p:spPr>
          <a:xfrm>
            <a:off x="548640" y="6250297"/>
            <a:ext cx="1125310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* Michelotti, A.;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Gargana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.;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Knap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G. EPIK8S: A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Kubernetes-Based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Framework for Scalable EPICS Control System Deployment in Accelerator Facilities.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Instrum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.. </a:t>
            </a:r>
            <a:endParaRPr lang="it-IT" sz="1200" b="0" i="0" baseline="0" dirty="0">
              <a:solidFill>
                <a:schemeClr val="bg1">
                  <a:lumMod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Our Training Beamline –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Simulated setup (docker compose on your PC):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motorsim</a:t>
            </a:r>
            <a:r>
              <a:rPr dirty="0"/>
              <a:t>  – 2 simulated motors: HMIR (horizontal), VMIR (vertical)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camerasim</a:t>
            </a:r>
            <a:r>
              <a:rPr dirty="0"/>
              <a:t> – simulated camera with peaks, overlays, stats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simtwin</a:t>
            </a:r>
            <a:r>
              <a:rPr dirty="0"/>
              <a:t> – digital twin: motor movements → beam position on camera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notebook – </a:t>
            </a:r>
            <a:r>
              <a:rPr dirty="0" err="1"/>
              <a:t>Jupyter</a:t>
            </a:r>
            <a:r>
              <a:rPr dirty="0"/>
              <a:t> with p4p pre-installed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Real setup (shared):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Thorlabs motorized mirror mount – same motor PVs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Laser + real camera – same camera PVs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Goal: develop on simulation, then switch to real with minimal changes!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Key PV Names – Cheat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Motors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LAB:SIM:HMIR.VAL  (set)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LAB:SIM:HMIR.RBV  (readback)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LAB:SIM:HMIR.DMOV  (done)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LAB:SIM:VMIR.*  (same)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Camera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LAB:SIM:CAM01:Acquire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LAB:SIM:CAM01:image1:ArrayData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Statistics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...:Stats1:CentroidX_RBV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...:Stats1:CentroidY_RBV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...:Stats1:ComputeCentroid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Overlay 1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...:Overlay1:1:PositionX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...:Overlay1:1:SizeX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2 –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Start the simulated beamline &amp; explore with Phoebus  (≈ 45 min)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1 – Start the beamline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a terminal and go to the training directory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Start all containers: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cd test-compose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docker compose up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Wait for all services to be ready (~30 seconds)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should see log lines from camerasim, motorsim, simtwin, notebook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Leave this terminal running!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2 – Launch Phoebus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a NEW terminal: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cd opi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phoebus -settings settings.ini -resource Launcher.bob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Launcher screen opens – click on each panel to explore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the Motor panel first 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2a – Move the motors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the Motor panel from the Launcher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HMIR (horizontal mirror) to position 5.0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VMIR (vertical mirror) to position -3.0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Observe: the RBV (readback) follows the setpoint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Watch the camera image – the beam spot moves!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Tip: the simtwin translates motor positions → peak position on camera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2b – Explore the camera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the Camera panel from the Launcher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Enable acquisition: set Acquire = Start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should see a live image with a bright peak (the 'beam')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the overlay mode: draw a rectangle on the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Click Apply – an overlay rectangle appears on the live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overlay marks the 'target zone' for beam centering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2c – PV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Phoebus: menu → Applications → PV Probe (or Ctrl+P)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Type a PV name:  LAB:SIM:HMIR.RBV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Observe the live value, timestamp, alarm status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writing:  LAB:SIM:HMIR.VAL  → enter a new position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other PVs: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LAB:SIM:CAM01:Stats1:CentroidX_RBV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LAB:SIM:CAM01:Acquire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This is how EPICS clients communicate – by PV name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☕ 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15 minutes – stretch, ask questions!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3 – Python &amp; p4p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Controlling EPICS from Jupyter notebooks  (≈ 45 min)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Why Python for Controls?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Physicists already know (some) Python – low barrier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Rich ecosystem: NumPy, Matplotlib, SciPy, Bluesky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Two Python client libraries for EPICS: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pyepics  → Channel Access (classic)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p4p  → PV Access (modern, structured data, images)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We'll use p4p – it supports both protocols and is the future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All running inside Jupyter – included in our docker compose!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3 – Open Jupyter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your web browser and navigate to: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http://localhost:8090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No password required – we configured token-free access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Create a new Python 3 notebook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notebook has p4p pre-installed (via beamline.yaml pip list)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Your work is saved in the 'work' folder (persistent on host)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Read a PV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Create a PV Access context (connects to the EPICS network)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Read a motor position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pos = ctx.get('LAB:SIM:HMIR')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print(f"HMIR position: {pos}")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Read camera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cx = ctx.get('LAB:SIM:CAM01:Stats1:CentroidX_RBV')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cy = ctx.get('LAB:SIM:CAM01:Stats1:CentroidY_RBV')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print(f"Beam centroid: ({cx}, {cy})")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Write a PV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Move horizontal mirror to position 10.0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ctx.put('LAB:SIM:HMIR', 10.0)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print("Motor moving...")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Wait and read back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time.sleep(2)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pos = ctx.get('LAB:SIM:HMIR')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print(f"HMIR arrived at: {pos}")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Monitor (live updates)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def on_value_change(value):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print(f"HMIR moved to: {value}")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Subscribe to live updates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sub = ctx.monitor('LAB:SIM:HMIR', on_value_change)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Move the motor from Phoebus and watch the prints!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time.sleep(30)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sub.close()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3a – Your first PV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Jupyter, create a new notebook called 'epics_basics'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Read both motor positions: LAB:SIM:HMIR and LAB:SIM:VMIR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Read the camera centroid: Stats1:CentroidX_RBV, CentroidY_RBV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HMIR to position 5.0 → wait 2s → read back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VMIR to position -2.0 → wait 2s → read back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Re-read the centroid – did it change?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Tip: the simtwin maps motor → beam position with some geometry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Exercise 3b – Read the overlay target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64240" cy="5573587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129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ctx</a:t>
            </a:r>
            <a:r>
              <a:rPr sz="1400" dirty="0"/>
              <a:t> = Context('</a:t>
            </a:r>
            <a:r>
              <a:rPr sz="1400" dirty="0" err="1"/>
              <a:t>pva</a:t>
            </a:r>
            <a:r>
              <a:rPr sz="1400" dirty="0"/>
              <a:t>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CAM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Read overlay 1 rectangle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ox = </a:t>
            </a:r>
            <a:r>
              <a:rPr sz="1400" dirty="0" err="1"/>
              <a:t>ctx.get</a:t>
            </a:r>
            <a:r>
              <a:rPr sz="1400" dirty="0"/>
              <a:t>(f'{CAM}:Overlay1:1:PositionX_RBV')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oy = </a:t>
            </a:r>
            <a:r>
              <a:rPr sz="1400" dirty="0" err="1"/>
              <a:t>ctx.get</a:t>
            </a:r>
            <a:r>
              <a:rPr sz="1400" dirty="0"/>
              <a:t>(f'{CAM}:Overlay1:1:PositionY_RBV')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sx</a:t>
            </a:r>
            <a:r>
              <a:rPr sz="1400" dirty="0"/>
              <a:t> = </a:t>
            </a:r>
            <a:r>
              <a:rPr sz="1400" dirty="0" err="1"/>
              <a:t>ctx.get</a:t>
            </a:r>
            <a:r>
              <a:rPr sz="1400" dirty="0"/>
              <a:t>(f'{CAM}:Overlay1:1:SizeX_RBV')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sy</a:t>
            </a:r>
            <a:r>
              <a:rPr sz="1400" dirty="0"/>
              <a:t> = </a:t>
            </a:r>
            <a:r>
              <a:rPr sz="1400" dirty="0" err="1"/>
              <a:t>ctx.get</a:t>
            </a:r>
            <a:r>
              <a:rPr sz="1400" dirty="0"/>
              <a:t>(f'{CAM}:Overlay1:1:SizeY_RBV')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Compute overlay center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target_x</a:t>
            </a:r>
            <a:r>
              <a:rPr sz="1400" dirty="0"/>
              <a:t> = ox + </a:t>
            </a:r>
            <a:r>
              <a:rPr sz="1400" dirty="0" err="1"/>
              <a:t>sx</a:t>
            </a:r>
            <a:r>
              <a:rPr sz="1400" dirty="0"/>
              <a:t> / 2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target_y</a:t>
            </a:r>
            <a:r>
              <a:rPr sz="1400" dirty="0"/>
              <a:t> = oy + </a:t>
            </a:r>
            <a:r>
              <a:rPr sz="1400" dirty="0" err="1"/>
              <a:t>sy</a:t>
            </a:r>
            <a:r>
              <a:rPr sz="1400" dirty="0"/>
              <a:t> / 2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f"Target</a:t>
            </a:r>
            <a:r>
              <a:rPr sz="1400" dirty="0"/>
              <a:t> center: ({</a:t>
            </a:r>
            <a:r>
              <a:rPr sz="1400" dirty="0" err="1"/>
              <a:t>target_x</a:t>
            </a:r>
            <a:r>
              <a:rPr sz="1400" dirty="0"/>
              <a:t>}, {</a:t>
            </a:r>
            <a:r>
              <a:rPr sz="1400" dirty="0" err="1"/>
              <a:t>target_y</a:t>
            </a:r>
            <a:r>
              <a:rPr sz="1400" dirty="0"/>
              <a:t>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Compute error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cx = </a:t>
            </a:r>
            <a:r>
              <a:rPr sz="1400" dirty="0" err="1"/>
              <a:t>ctx.get</a:t>
            </a:r>
            <a:r>
              <a:rPr sz="1400" dirty="0"/>
              <a:t>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cy = </a:t>
            </a:r>
            <a:r>
              <a:rPr sz="1400" dirty="0" err="1"/>
              <a:t>ctx.get</a:t>
            </a:r>
            <a:r>
              <a:rPr sz="1400" dirty="0"/>
              <a:t>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f"Beam</a:t>
            </a:r>
            <a:r>
              <a:rPr sz="1400" dirty="0"/>
              <a:t> centroid: ({cx}, {cy})")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f"Error</a:t>
            </a:r>
            <a:r>
              <a:rPr sz="1400" dirty="0"/>
              <a:t>: ({</a:t>
            </a:r>
            <a:r>
              <a:rPr sz="1400" dirty="0" err="1"/>
              <a:t>target_x</a:t>
            </a:r>
            <a:r>
              <a:rPr sz="1400" dirty="0"/>
              <a:t> - cx:.1f}, {</a:t>
            </a:r>
            <a:r>
              <a:rPr sz="1400" dirty="0" err="1"/>
              <a:t>target_y</a:t>
            </a:r>
            <a:r>
              <a:rPr sz="1400" dirty="0"/>
              <a:t> - cy:.1f}) pixels")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4 – Build a Beam-Center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Closed-loop: move motors to center the beam on overlay  (≈ 45 min)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Goal: automatically move HMIR and VMIR so that the beam centroid</a:t>
            </a:r>
            <a:br/>
            <a:r>
              <a:t>    lands exactly in the center of overlay rectangle 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need: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Read the beam centroid (Stats1:CentroidX_RBV, CentroidY_RBV)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Read the overlay center (Overlay1:1:Position + Size / 2)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Compute the error in pixels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Convert pixel error → motor correction (gain factor)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Move motors, wait, repeat until error &lt; tolerance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This is a proportional control loop!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Algorithm –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Enable centroid computation:  Stats1:ComputeCentroid = 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LOOP: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a. Read beam centroid (cx, cy)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b. Read overlay 1 center (tx, ty)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c. error_x = tx – cx ,  error_y = ty – cy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d. If |error_x| &lt; tolerance AND |error_y| &lt; tolerance → DONE!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e. delta_motor_x = error_x × gain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f. delta_motor_y = error_y × gain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g. Move HMIR by delta_motor_x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h. Move VMIR by delta_motor_y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i. Wait for motors to finish, then go to step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What is 'gain'?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Gain converts pixels → motor units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If the beam moves 100 pixels when the motor moves 1 mm → gain ≈ 0.01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Too large gain → overshooting, oscillation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Too small gain → slow convergence, many iterations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Start with gain = 0.01 and adjust!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Tolerance = how close is 'good enough' (e.g., 5 pixels)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Skeleton – beam_center notebook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CAM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GAIN = 0.01       # pixels -&gt; motor units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TOLERANCE = 5.0   # pixels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Step 1: enable centroid calculation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ctx.put(f'{CAM}:Stats1:ComputeCentroid', 1)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for iteration in range(20):  # max 20 iterations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Step 2a: read beam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cx = ctx.get(f'{CAM}:Stats1:CentroidX_RBV')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cy = ctx.get(f'{CAM}:Stats1:CentroidY_RBV')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Step 2b: read overlay center  (FILL THIS IN!)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tx =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ty =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Step 2c-d: compute error and check convergence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Step 2e-h: move motors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time.sleep(1)  # wait before next iteration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Solution – beam_center (1/2)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CAM 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MOTX = 'LAB:SIM:HMIR'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MOTY = 'LAB:SIM:VMIR'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GAIN = 0.01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TOLERANCE = 5.0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Enable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ctx.put(f'{CAM}:Stats1:ComputeCentroid', 1)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time.sleep(0.5)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for i in range(20):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Read beam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cx = ctx.get(f'{CAM}:Stats1:CentroidX_RBV')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cy = ctx.get(f'{CAM}:Stats1:CentroidY_RBV')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Read overlay 1 center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ox = ctx.get(f'{CAM}:Overlay1:1:PositionX_RBV')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oy = ctx.get(f'{CAM}:Overlay1:1:PositionY_RBV')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sx = ctx.get(f'{CAM}:Overlay1:1:SizeX_RBV')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sy = ctx.get(f'{CAM}:Overlay1:1:SizeY_RBV')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tx, ty = ox + sx/2, oy + sy/2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Solution – beam_center (2/2)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Compute error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ex, ey = tx - cx, ty - cy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print(f"[{i}] centroid=({cx:.0f},{cy:.0f})  "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  f"target=({tx:.0f},{ty:.0f})  err=({ex:.1f},{ey:.1f})")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if abs(ex) &lt; TOLERANCE and abs(ey) &lt; TOLERANCE: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print(f"✅ Converged in {i+1} iterations!")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break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Move motors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cur_x = ctx.get(f'{MOTX}')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cur_y = ctx.get(f'{MOTY}')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ctx.put(f'{MOTX}', cur_x + ex * GAIN)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ctx.put(f'{MOTY}', cur_y + ey * GAIN)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time.sleep(1.5)  # wait for motors + new image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else: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print("⚠️  Did not converge in 20 iterations – try adjusting GAIN")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4 – Try it yourself!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In Phoebus: set overlay 1 somewhere on the camera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In Jupyter: create a 'beam_center' notebook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3. Implement the closed loop (use the skeleton or write your own)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4. Run it and watch the beam move in the camera panel!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Experiment: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Change GAIN – what happens with 0.1? with 0.001?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Change TOLERANCE – can you get to 1 pixel?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Move the overlay to a different position and re-run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Add a plot of error vs. iteration (matplotlib)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Bonus – Plot convergence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(after running the loop, collect errors in a list)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errors_x = []  # append ex each iteration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errors_y = []  # append ey each iteration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... run your loop, collecting errors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plt.figure(figsize=(8, 4))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plt.plot(errors_x, label='Error X (px)')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plt.plot(errors_y, label='Error Y (px)')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plt.axhline(y=0, color='gray', linestyle='--')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plt.axhline(y=TOLERANCE, color='red', linestyle=':', alpha=0.5)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plt.axhline(y=-TOLERANCE, color='red', linestyle=':', alpha=0.5)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plt.xlabel('Iteration')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plt.ylabel('Error (pixels)')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plt.title('Beam Center Convergence')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plt.legend()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plt.grid(True, alpha=0.3)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5 – Real Hardware!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From simulation to reality  (≈ 30 min)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Switching to Real Hardware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real setup: laser → motorized mirror → camera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Same PV structure, different prefix: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Simulated:  LAB:SIM:HMIR  /  LAB:SIM:CAM01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Real:       LAB:REAL:MOTOR:HMIR  /  LAB:REAL:CAM01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your notebook, change just TWO variables: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  = 'LAB:REAL:CAM01'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MOTX = 'LAB:REAL:MOTOR:HMIR'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MOTY = 'LAB:REAL:MOTOR:VMIR'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Everything else stays the same – that's the power of EPICS!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Safety first! 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Real motors can damage equipment if driven too far!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Before running your beam-center loop on real HW: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Check motor limits in Phoebus (DHLM, DLLM)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Start with very small GAIN (0.001)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Use small max iterations (5) and check visually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If the beam goes the WRONG way → your gain sign is wrong!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Always have someone watching the real setup while driving motors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5 – Real beam centering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Open the real camera in Phoebus – you should see the laser spot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Place overlay 1 where you want the beam to go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3. In Jupyter, switch to real PV prefixes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4. Run the beam-center loop with GAIN=0.001, max 5 iterations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5. Observe: does the beam move toward the overlay?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6. Increase GAIN gradually until convergence is smooth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Congratulations – you've built a real feedback control system!  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What did we learn?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EPICS: distributed control via Process Variables (PVs)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IOCs serve PVs – each device has its own IOC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Phoebus: GUI to monitor and control – OPI screens, PV Probe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Docker: package IOCs in containers, deploy anywhere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Python + p4p: read/write PVs from scripts &amp; notebooks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Feedback loops: read sensors → compute → drive actuators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Same code works on simulation AND real hardware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Where to go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EPICS documentation: https://docs.epics-controls.org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Bluesky – scan framework for ‌data acquisition &amp; experiment automation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ophyd-hal – EPICS device abstraction layer for Bluesky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Kubernetes (k8s): production deployment of EPICS containers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Our tools: epik8s-tools, epik8s-compose, ioc-chart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Questions?  Ask now or reach out later!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B4D8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1800"/>
              </a:spcBef>
              <a:defRPr sz="2400" b="0">
                <a:solidFill>
                  <a:srgbClr val="CCCCCC"/>
                </a:solidFill>
                <a:latin typeface="Calibri"/>
              </a:defRPr>
            </a:pPr>
            <a:r>
              <a:t>Now go center some beams! 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3741</Words>
  <Application>Microsoft Macintosh PowerPoint</Application>
  <PresentationFormat>Widescreen</PresentationFormat>
  <Paragraphs>429</Paragraphs>
  <Slides>43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Arial</vt:lpstr>
      <vt:lpstr>Calibri</vt:lpstr>
      <vt:lpstr>Helvetica Neue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Andrea Michelotti</cp:lastModifiedBy>
  <cp:revision>2</cp:revision>
  <dcterms:created xsi:type="dcterms:W3CDTF">2013-01-27T09:14:16Z</dcterms:created>
  <dcterms:modified xsi:type="dcterms:W3CDTF">2026-04-02T21:32:50Z</dcterms:modified>
  <cp:category/>
</cp:coreProperties>
</file>